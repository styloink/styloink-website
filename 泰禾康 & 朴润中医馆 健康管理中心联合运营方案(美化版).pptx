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354" r:id="rId12"/>
    <p:sldId id="259" r:id="rId6"/>
    <p:sldId id="358" r:id="rId16"/>
    <p:sldId id="355" r:id="rId13"/>
    <p:sldId id="359" r:id="rId17"/>
    <p:sldId id="360" r:id="rId18"/>
    <p:sldId id="361" r:id="rId19"/>
    <p:sldId id="362" r:id="rId20"/>
    <p:sldId id="363" r:id="rId21"/>
    <p:sldId id="356" r:id="rId14"/>
    <p:sldId id="364" r:id="rId22"/>
    <p:sldId id="263" r:id="rId7"/>
    <p:sldId id="368" r:id="rId26"/>
    <p:sldId id="365" r:id="rId23"/>
    <p:sldId id="357" r:id="rId15"/>
    <p:sldId id="366" r:id="rId24"/>
    <p:sldId id="367" r:id="rId25"/>
    <p:sldId id="353" r:id="rId8"/>
  </p:sldIdLst>
  <p:sldSz cx="1511998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15.xml"/><Relationship Id="rId8" Type="http://schemas.openxmlformats.org/officeDocument/2006/relationships/slide" Target="slides/slide2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13.xml"/><Relationship Id="rId15" Type="http://schemas.openxmlformats.org/officeDocument/2006/relationships/slide" Target="slides/slide18.xml"/><Relationship Id="rId16" Type="http://schemas.openxmlformats.org/officeDocument/2006/relationships/slide" Target="slides/slide6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4.xml"/><Relationship Id="rId23" Type="http://schemas.openxmlformats.org/officeDocument/2006/relationships/slide" Target="slides/slide17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ZYJZSJ.CN" TargetMode="External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hyperlink" Target="HTTP://ZYJZSJ.CN" TargetMode="External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5120620" cy="7560310"/>
          </a:xfrm>
          <a:prstGeom prst="rect">
            <a:avLst/>
          </a:prstGeom>
          <a:solidFill>
            <a:srgbClr val="766B56">
              <a:alpha val="8470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泰禾康 &amp; 朴润中医馆</a:t>
            </a:r>
          </a:p>
          <a:p>
            <a:r>
              <a:t>TAIHEKANG &amp; PARKRUN</a:t>
            </a:r>
          </a:p>
        </p:txBody>
      </p:sp>
      <p:sp>
        <p:nvSpPr>
          <p:cNvPr id="4" name="rect 4"/>
          <p:cNvSpPr/>
          <p:nvPr/>
        </p:nvSpPr>
        <p:spPr>
          <a:xfrm>
            <a:off x="3779990" y="1676400"/>
            <a:ext cx="7559992" cy="3962400"/>
          </a:xfrm>
          <a:prstGeom prst="rect">
            <a:avLst/>
          </a:prstGeom>
          <a:solidFill>
            <a:srgbClr val="FFF10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157095" y="426720"/>
            <a:ext cx="10806430" cy="566420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404705" y="4352290"/>
            <a:ext cx="7560309" cy="1524000"/>
          </a:xfrm>
          <a:prstGeom prst="rect">
            <a:avLst/>
          </a:prstGeom>
          <a:solidFill>
            <a:srgbClr val="766B56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6285" algn="l" rtl="0" eaLnBrk="0">
              <a:lnSpc>
                <a:spcPts val="2085"/>
              </a:lnSpc>
            </a:pPr>
            <a:r>
              <a:rPr sz="3000" kern="0" spc="18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ARCHITECTU</a:t>
            </a:r>
            <a:r>
              <a:rPr sz="3000" kern="0" spc="1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775335" algn="l" rtl="0" eaLnBrk="0">
              <a:lnSpc>
                <a:spcPts val="4290"/>
              </a:lnSpc>
            </a:pPr>
            <a:r>
              <a:rPr sz="3000" kern="0" spc="1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PROPOSAL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519929" y="6204920"/>
            <a:ext cx="1910714" cy="8140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20"/>
              </a:lnSpc>
            </a:pPr>
            <a:r>
              <a:rPr sz="1200" kern="0" spc="9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837690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ct val="74000"/>
              </a:lnSpc>
              <a:spcBef>
                <a:spcPts val="195"/>
              </a:spcBef>
            </a:pPr>
            <a:r>
              <a:rPr sz="1200" kern="0" spc="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200" kern="0" spc="-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200" kern="0" spc="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2">
                  <a:extLst>
                    <a:ext uri="{DAF060AB-1E55-43B9-8AAB-6FB025537F2F}">
                      <wpsdc:hlinkClr xmlns:wpsdc="http://www.wps.cn/officeDocument/2017/drawingmlCustomData" val="57585A"/>
                      <wpsdc:folHlinkClr xmlns:wpsdc="http://www.wps.cn/officeDocument/2017/drawingmlCustomData" val="57585A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ts val="1720"/>
              </a:lnSpc>
              <a:spcBef>
                <a:spcPts val="220"/>
              </a:spcBef>
            </a:pPr>
            <a:r>
              <a:rPr sz="1200" kern="0" spc="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FAX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:</a:t>
            </a:r>
            <a:r>
              <a:rPr sz="1200" kern="0" spc="30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025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84540119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8019</a:t>
            </a:r>
            <a:endParaRPr sz="1200" dirty="0">
              <a:solidFill>
                <a:schemeClr val="bg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415" algn="l" rtl="0" eaLnBrk="0">
              <a:lnSpc>
                <a:spcPct val="75000"/>
              </a:lnSpc>
              <a:spcBef>
                <a:spcPts val="205"/>
              </a:spcBef>
            </a:pP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r>
              <a:rPr sz="1200" kern="0" spc="-13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8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MAIL:nj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zy</a:t>
            </a:r>
            <a:r>
              <a:rPr sz="1200" kern="0" spc="-12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sj@126</a:t>
            </a:r>
            <a:r>
              <a:rPr sz="1200" kern="0" spc="-9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sz="1200" kern="0" spc="-11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chemeClr val="bg1">
                    <a:alpha val="100000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</a:t>
            </a:r>
            <a:endParaRPr sz="1200" kern="0" spc="60" dirty="0">
              <a:solidFill>
                <a:schemeClr val="bg1">
                  <a:alpha val="100000"/>
                </a:schemeClr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5551119" y="905291"/>
            <a:ext cx="1375410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t>汇报人：武静</a:t>
            </a:r>
          </a:p>
          <a:p>
            <a:r>
              <a:t>2026/07/02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80002" y="457200"/>
            <a:ext cx="6012002" cy="710280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57212"/>
            <a:ext cx="9368993" cy="2018754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0545098" y="1356757"/>
            <a:ext cx="1875154" cy="5032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4135" algn="l" rtl="0" eaLnBrk="0">
              <a:lnSpc>
                <a:spcPct val="83000"/>
              </a:lnSpc>
            </a:pPr>
            <a:r>
              <a:rPr sz="3600" b="1" kern="0" spc="-22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sz="3600" b="1" kern="0" spc="30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600" b="1" kern="0" spc="-22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9215" algn="l" rtl="0" eaLnBrk="0">
              <a:lnSpc>
                <a:spcPct val="66000"/>
              </a:lnSpc>
              <a:spcBef>
                <a:spcPts val="1000"/>
              </a:spcBef>
            </a:pP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</a:t>
            </a:r>
            <a:r>
              <a:rPr sz="1500" kern="0" spc="2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</a:t>
            </a:r>
            <a:r>
              <a:rPr sz="1500" kern="0" spc="1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r>
              <a:rPr sz="1500" kern="0" spc="3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</a:t>
            </a:r>
            <a:r>
              <a:rPr sz="1500" kern="0" spc="18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500" kern="0" spc="-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endParaRPr sz="15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6000"/>
              </a:lnSpc>
              <a:spcBef>
                <a:spcPts val="42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公司简介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6000"/>
              </a:lnSpc>
              <a:spcBef>
                <a:spcPts val="135"/>
              </a:spcBef>
            </a:pPr>
            <a:r>
              <a:rPr sz="1000" kern="0" spc="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INTRODUCTI</a:t>
            </a:r>
            <a:r>
              <a:rPr sz="1000" kern="0" spc="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1000"/>
              </a:lnSpc>
              <a:spcBef>
                <a:spcPts val="420"/>
              </a:spcBef>
            </a:pP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 /</a:t>
            </a:r>
            <a:r>
              <a:rPr sz="1400" kern="0" spc="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文化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96000"/>
              </a:lnSpc>
              <a:spcBef>
                <a:spcPts val="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 VISION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</a:t>
            </a:r>
            <a:r>
              <a:rPr sz="10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4605" algn="l" rtl="0" eaLnBrk="0">
              <a:lnSpc>
                <a:spcPct val="87000"/>
              </a:lnSpc>
              <a:spcBef>
                <a:spcPts val="1350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8000"/>
              </a:lnSpc>
              <a:spcBef>
                <a:spcPts val="130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1000" kern="0" spc="1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10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WORKS&amp;OUR</a:t>
            </a:r>
            <a:r>
              <a:rPr sz="1000" kern="0" spc="1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7000"/>
              </a:lnSpc>
              <a:spcBef>
                <a:spcPts val="1470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我们的特点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00"/>
              </a:spcBef>
            </a:pPr>
            <a:r>
              <a:rPr sz="1000" kern="0" spc="7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7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CHARACTERISTICS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7000"/>
              </a:lnSpc>
              <a:spcBef>
                <a:spcPts val="133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我们的奖项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19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2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ADWARDS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34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企业团队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85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TEAM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31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项目案例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66000"/>
              </a:lnSpc>
              <a:spcBef>
                <a:spcPts val="220"/>
              </a:spcBef>
            </a:pPr>
            <a:r>
              <a:rPr sz="1000" kern="0" spc="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1000" kern="0" spc="18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3335" algn="l" rtl="0" eaLnBrk="0">
              <a:lnSpc>
                <a:spcPct val="88000"/>
              </a:lnSpc>
              <a:spcBef>
                <a:spcPts val="1495"/>
              </a:spcBef>
            </a:pPr>
            <a:r>
              <a:rPr sz="14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数字化业务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66000"/>
              </a:lnSpc>
              <a:spcBef>
                <a:spcPts val="220"/>
              </a:spcBef>
            </a:pP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DIGITAL</a:t>
            </a:r>
            <a:r>
              <a:rPr sz="1000" kern="0" spc="26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0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61714" y="3333157"/>
            <a:ext cx="2559050" cy="2545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建筑行业（建筑工程）甲级资质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0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风景园林工程设计专项乙级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60"/>
              </a:spcBef>
            </a:pPr>
            <a:r>
              <a:rPr sz="10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电力行业（送电工程</a:t>
            </a: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、变电工程）专业丙级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0"/>
              </a:spcBef>
            </a:pPr>
            <a:r>
              <a:rPr sz="10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人防工程乙级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0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公司成立于 19</a:t>
            </a:r>
            <a:r>
              <a:rPr sz="10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 年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60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国家高新技术企业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建筑高新技术企业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风景园林高新技术企业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75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人防高新技术企业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10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送变电新技术企业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3265201" y="6405416"/>
          <a:ext cx="1366520" cy="454025"/>
        </p:xfrm>
        <a:graphic>
          <a:graphicData uri="http://schemas.openxmlformats.org/drawingml/2006/table">
            <a:tbl>
              <a:tblPr/>
              <a:tblGrid>
                <a:gridCol w="1366520"/>
              </a:tblGrid>
              <a:tr h="450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66B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66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泰禾康</a:t>
            </a:r>
          </a:p>
          <a:p>
            <a:r>
              <a:t>TAIHEKANG HEALTH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朴润中医馆</a:t>
            </a:r>
          </a:p>
          <a:p>
            <a:r>
              <a:t>PARKRUN CHINESE MEDICINE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鹿玮：运营总监</a:t>
            </a:r>
          </a:p>
          <a:p>
            <a:pPr/>
            <a:r>
              <a:t>全球供应链专家，中医药出海领航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核心成员介绍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刘振伟：体系院长</a:t>
            </a:r>
          </a:p>
          <a:p>
            <a:pPr/>
            <a:r>
              <a:t>资深养老专家，省级最美护理员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核心成员介绍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张华：中心总经理</a:t>
            </a:r>
          </a:p>
          <a:p>
            <a:pPr/>
            <a:r>
              <a:t>10亿级爆品打造，大健康营销专家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核心成员介绍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宋美华：核心成员</a:t>
            </a:r>
          </a:p>
          <a:p>
            <a:pPr/>
            <a:r>
              <a:t>丰富运营经验，卓越执行支撑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核心成员介绍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核心成员展示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总体运营策略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32"/>
          <p:cNvSpPr/>
          <p:nvPr/>
        </p:nvSpPr>
        <p:spPr>
          <a:xfrm>
            <a:off x="8017205" y="45721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围绝经期：女性更年期中医调理</a:t>
            </a:r>
          </a:p>
          <a:p>
            <a:r>
              <a:rPr b="1"/>
              <a:t>前列腺专科：男性健康评估与理疗</a:t>
            </a:r>
          </a:p>
        </p:txBody>
      </p:sp>
      <p:sp>
        <p:nvSpPr>
          <p:cNvPr id="134" name="textbox 134"/>
          <p:cNvSpPr/>
          <p:nvPr/>
        </p:nvSpPr>
        <p:spPr>
          <a:xfrm>
            <a:off x="11555996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生态建筑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ECOLOGICA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景观建筑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43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7503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INTERIOR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8017205" y="3891750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RENOVATION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乡村建筑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4420" algn="l" rtl="0" eaLnBrk="0">
              <a:lnSpc>
                <a:spcPct val="66000"/>
              </a:lnSpc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RURAL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996004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血压健康：建立档案、定期监测</a:t>
            </a:r>
          </a:p>
          <a:p>
            <a:r>
              <a:rPr b="1"/>
              <a:t>代谢管理：血糖血脂尿酸综合调理</a:t>
            </a:r>
          </a:p>
        </p:txBody>
      </p:sp>
      <p:sp>
        <p:nvSpPr>
          <p:cNvPr id="142" name="textbox 142"/>
          <p:cNvSpPr/>
          <p:nvPr/>
        </p:nvSpPr>
        <p:spPr>
          <a:xfrm>
            <a:off x="3996004" y="3891750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文体建筑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5664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r>
              <a:rPr sz="1200" kern="0" spc="1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SPORTS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6640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COMMERCIAL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47540" y="5296754"/>
            <a:ext cx="2505075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慢病管理中心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2" name="textbox 132"/>
          <p:cNvSpPr/>
          <p:nvPr/>
        </p:nvSpPr>
        <p:spPr>
          <a:xfrm>
            <a:off x="8017205" y="45721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创面管理：专业护理、康复服务</a:t>
            </a:r>
          </a:p>
        </p:txBody>
      </p:sp>
      <p:sp>
        <p:nvSpPr>
          <p:cNvPr id="134" name="textbox 134"/>
          <p:cNvSpPr/>
          <p:nvPr/>
        </p:nvSpPr>
        <p:spPr>
          <a:xfrm>
            <a:off x="11555996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生态建筑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27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ECOLOGICA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8460" algn="l" rtl="0" eaLnBrk="0">
              <a:lnSpc>
                <a:spcPct val="87000"/>
              </a:lnSpc>
              <a:spcBef>
                <a:spcPts val="55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景观建筑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11530" algn="l" rtl="0" eaLnBrk="0">
              <a:lnSpc>
                <a:spcPct val="66000"/>
              </a:lnSpc>
              <a:spcBef>
                <a:spcPts val="350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4340" algn="l" rtl="0" eaLnBrk="0">
              <a:lnSpc>
                <a:spcPct val="87000"/>
              </a:lnSpc>
              <a:spcBef>
                <a:spcPts val="5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7503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INTERIOR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8017205" y="3891750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7442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RENOVATION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502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乡村建筑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4420" algn="l" rtl="0" eaLnBrk="0">
              <a:lnSpc>
                <a:spcPct val="66000"/>
              </a:lnSpc>
            </a:pP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RURAL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3996004" y="457212"/>
            <a:ext cx="3107054" cy="3211195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口腔专护：中医护齿、日常指导</a:t>
            </a:r>
          </a:p>
          <a:p>
            <a:r>
              <a:rPr b="1"/>
              <a:t>睡眠管理：针灸推拿、行为干预</a:t>
            </a:r>
          </a:p>
        </p:txBody>
      </p:sp>
      <p:sp>
        <p:nvSpPr>
          <p:cNvPr id="142" name="textbox 142"/>
          <p:cNvSpPr/>
          <p:nvPr/>
        </p:nvSpPr>
        <p:spPr>
          <a:xfrm>
            <a:off x="3996004" y="3891750"/>
            <a:ext cx="3107054" cy="3211195"/>
          </a:xfrm>
          <a:prstGeom prst="rect">
            <a:avLst/>
          </a:prstGeom>
          <a:solidFill>
            <a:srgbClr val="766B56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   文体建筑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056640" algn="l" rtl="0" eaLnBrk="0">
              <a:lnSpc>
                <a:spcPct val="66000"/>
              </a:lnSpc>
              <a:spcBef>
                <a:spcPts val="295"/>
              </a:spcBef>
            </a:pP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r>
              <a:rPr sz="1200" kern="0" spc="13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6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SPORTS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140" algn="l" rtl="0" eaLnBrk="0">
              <a:lnSpc>
                <a:spcPct val="87000"/>
              </a:lnSpc>
              <a:spcBef>
                <a:spcPts val="540"/>
              </a:spcBef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800" b="1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商业建筑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56640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COMMERCIAL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447540" y="5296754"/>
            <a:ext cx="2505075" cy="894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b="1"/>
              <a:t>特色专科中心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运营总结：业务矩阵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5991" y="457212"/>
            <a:ext cx="3106813" cy="664559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017192" y="457212"/>
            <a:ext cx="3106813" cy="6645592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45744" y="1958246"/>
            <a:ext cx="2513964" cy="4650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-635" algn="l" rtl="0" eaLnBrk="0">
              <a:lnSpc>
                <a:spcPct val="103000"/>
              </a:lnSpc>
            </a:pP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成为一家专业的，能为客户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创造</a:t>
            </a:r>
            <a:r>
              <a:rPr sz="14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价值的，有影响力受尊重</a:t>
            </a: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r>
              <a:rPr sz="1400" kern="0" spc="-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咨询企业。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780" indent="7620" algn="l" rtl="0" eaLnBrk="0">
              <a:lnSpc>
                <a:spcPct val="124000"/>
              </a:lnSpc>
              <a:spcBef>
                <a:spcPts val="136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Become a profes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sional, influential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respected design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consulting</a:t>
            </a: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 that can cr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eate value for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customers.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1000"/>
              </a:lnSpc>
              <a:spcBef>
                <a:spcPts val="1090"/>
              </a:spcBef>
            </a:pPr>
            <a:r>
              <a:rPr sz="3600" kern="0" spc="-9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愿景/文化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765" algn="l" rtl="0" eaLnBrk="0">
              <a:lnSpc>
                <a:spcPct val="91000"/>
              </a:lnSpc>
              <a:spcBef>
                <a:spcPts val="4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OUR</a:t>
            </a:r>
            <a:r>
              <a:rPr sz="3000" kern="0" spc="29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VISION/</a:t>
            </a:r>
            <a:r>
              <a:rPr sz="3000" kern="0" spc="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7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CULTURE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555996" y="457200"/>
            <a:ext cx="3106813" cy="3211067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555996" y="3875442"/>
            <a:ext cx="3107054" cy="3211195"/>
          </a:xfrm>
          <a:prstGeom prst="rect">
            <a:avLst/>
          </a:prstGeom>
          <a:solidFill>
            <a:srgbClr val="766B56">
              <a:alpha val="6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7845" algn="l" rtl="0" eaLnBrk="0">
              <a:lnSpc>
                <a:spcPct val="82000"/>
              </a:lnSpc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合作共赢，厚德载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7845" algn="l" rtl="0" eaLnBrk="0">
              <a:lnSpc>
                <a:spcPts val="2600"/>
              </a:lnSpc>
            </a:pPr>
            <a:r>
              <a:rPr sz="1800" b="1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物，自强不息。</a:t>
            </a:r>
            <a:endParaRPr sz="1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42925" algn="l" rtl="0" eaLnBrk="0">
              <a:lnSpc>
                <a:spcPts val="1805"/>
              </a:lnSpc>
              <a:spcBef>
                <a:spcPts val="430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Cooperate for win-win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9910" algn="l" rtl="0" eaLnBrk="0">
              <a:lnSpc>
                <a:spcPts val="2200"/>
              </a:lnSpc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results, ca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rry virtue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290" algn="l" rtl="0" eaLnBrk="0">
              <a:lnSpc>
                <a:spcPts val="1805"/>
              </a:lnSpc>
              <a:spcBef>
                <a:spcPts val="395"/>
              </a:spcBef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resour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ces, and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292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constantly strive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44195" algn="l" rtl="0" eaLnBrk="0">
              <a:lnSpc>
                <a:spcPts val="2200"/>
              </a:lnSpc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self-impro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vement.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全面赋能，价值共创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" name="rect 36"/>
          <p:cNvSpPr/>
          <p:nvPr/>
        </p:nvSpPr>
        <p:spPr>
          <a:xfrm>
            <a:off x="7572692" y="12"/>
            <a:ext cx="7547292" cy="7559992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7560005" cy="3352812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683894" y="3519939"/>
            <a:ext cx="5601334" cy="273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87000"/>
              </a:lnSpc>
            </a:pPr>
            <a:r>
              <a:rPr sz="3600" kern="0" spc="-110" dirty="0">
                <a:solidFill>
                  <a:srgbClr val="231F2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服务模式及范围</a:t>
            </a:r>
            <a:endParaRPr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68000"/>
              </a:lnSpc>
              <a:spcBef>
                <a:spcPts val="1480"/>
              </a:spcBef>
            </a:pP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</a:t>
            </a:r>
            <a:r>
              <a:rPr sz="3000" kern="0" spc="6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</a:t>
            </a:r>
            <a:r>
              <a:rPr sz="3000" kern="0" spc="31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6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WORKS&amp;O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UR</a:t>
            </a:r>
            <a:r>
              <a:rPr sz="3000" kern="0" spc="50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3000" kern="0" spc="150" dirty="0">
                <a:solidFill>
                  <a:srgbClr val="231F20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3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3000"/>
              </a:lnSpc>
              <a:spcBef>
                <a:spcPts val="425"/>
              </a:spcBef>
            </a:pPr>
            <a:r>
              <a:rPr sz="14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为客户提供一站式、菜单式的专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400"/>
              </a:lnSpc>
            </a:pPr>
            <a:r>
              <a:rPr sz="1300" kern="0" spc="-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家级服务。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550"/>
              </a:lnSpc>
              <a:spcBef>
                <a:spcPts val="37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Provide customer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with one-stop,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1800"/>
              </a:lnSpc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menu-based expert services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773003" y="3158401"/>
            <a:ext cx="4346981" cy="3200400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7947211" y="3686819"/>
            <a:ext cx="2597785" cy="2200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035" algn="l" rtl="0" eaLnBrk="0">
              <a:lnSpc>
                <a:spcPts val="1805"/>
              </a:lnSpc>
            </a:pP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committed to forming a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635" algn="l" rtl="0" eaLnBrk="0">
              <a:lnSpc>
                <a:spcPct val="179000"/>
              </a:lnSpc>
              <a:spcBef>
                <a:spcPts val="285"/>
              </a:spcBef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full-industry chain s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ervice com-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pany integrating consultation,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planning, design, implementa-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and c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apital in the construc-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tion field.</a:t>
            </a:r>
            <a:endParaRPr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762128" y="1113039"/>
            <a:ext cx="307212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82000"/>
              </a:lnSpc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致力于在建设的细分领域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形成集咨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1270" algn="l" rtl="0" eaLnBrk="0">
              <a:lnSpc>
                <a:spcPct val="160000"/>
              </a:lnSpc>
              <a:spcBef>
                <a:spcPts val="20"/>
              </a:spcBef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询、规划、设计、实施、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资本为一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体的全产业链服务公司。</a:t>
            </a:r>
            <a:endParaRPr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5192196" y="1527886"/>
            <a:ext cx="2277110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245" indent="-169545" algn="l" rtl="0" eaLnBrk="0">
              <a:lnSpc>
                <a:spcPct val="91000"/>
              </a:lnSpc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6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BIM技术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BIM</a:t>
            </a:r>
            <a:r>
              <a:rPr sz="700" kern="0" spc="9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87325" indent="-174625" algn="l" rtl="0" eaLnBrk="0">
              <a:lnSpc>
                <a:spcPct val="83000"/>
              </a:lnSpc>
              <a:spcBef>
                <a:spcPts val="1130"/>
              </a:spcBef>
            </a:pP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7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3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EPC工程总承包</a:t>
            </a:r>
            <a:r>
              <a:rPr sz="1200" kern="0" spc="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sz="700" kern="0" spc="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EPC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370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装配式建筑设计及深化设计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1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Assembled</a:t>
            </a:r>
            <a:r>
              <a:rPr sz="700" kern="0" spc="1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deepening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2621796" y="1534024"/>
            <a:ext cx="2245995" cy="1121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商业策划与咨</a:t>
            </a: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735" algn="l" rtl="0" eaLnBrk="0">
              <a:lnSpc>
                <a:spcPts val="885"/>
              </a:lnSpc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8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工程技术开发咨询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2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Engineering</a:t>
            </a:r>
            <a:r>
              <a:rPr sz="700" kern="0" spc="1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technology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development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35"/>
              </a:spcBef>
            </a:pPr>
            <a:r>
              <a:rPr sz="1200" kern="0" spc="-1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全过程工程咨询服务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0020" algn="l" rtl="0" eaLnBrk="0">
              <a:lnSpc>
                <a:spcPts val="885"/>
              </a:lnSpc>
              <a:spcBef>
                <a:spcPts val="90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Whole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process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enginee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ring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consulting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services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65796" y="1540786"/>
            <a:ext cx="1594485" cy="1522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规划建筑设计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Planning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rchitectural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1000"/>
              </a:lnSpc>
              <a:spcBef>
                <a:spcPts val="102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电力设计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Electric</a:t>
            </a:r>
            <a:r>
              <a:rPr sz="700" kern="0" spc="12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</a:t>
            </a:r>
            <a:r>
              <a:rPr sz="700" kern="0" spc="11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3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6000"/>
              </a:lnSpc>
              <a:spcBef>
                <a:spcPts val="1210"/>
              </a:spcBef>
            </a:pP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1200" kern="0" spc="5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00" kern="0" spc="-4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景观设计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15"/>
              </a:spcBef>
            </a:pP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Landscape</a:t>
            </a:r>
            <a:r>
              <a:rPr sz="700" kern="0" spc="10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 algn="l" rtl="0" eaLnBrk="0">
              <a:lnSpc>
                <a:spcPct val="87000"/>
              </a:lnSpc>
              <a:spcBef>
                <a:spcPts val="1040"/>
              </a:spcBef>
            </a:pPr>
            <a:r>
              <a:rPr sz="1200" kern="0" spc="-20" dirty="0">
                <a:solidFill>
                  <a:srgbClr val="57585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装饰设计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9385" algn="l" rtl="0" eaLnBrk="0">
              <a:lnSpc>
                <a:spcPts val="885"/>
              </a:lnSpc>
              <a:spcBef>
                <a:spcPts val="55"/>
              </a:spcBef>
            </a:pP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Decorative</a:t>
            </a:r>
            <a:r>
              <a:rPr sz="700" kern="0" spc="15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700" kern="0" spc="40" dirty="0">
                <a:solidFill>
                  <a:srgbClr val="57585A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design</a:t>
            </a:r>
            <a:endParaRPr sz="7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4" name="path 54"/>
          <p:cNvSpPr/>
          <p:nvPr/>
        </p:nvSpPr>
        <p:spPr>
          <a:xfrm>
            <a:off x="5165994" y="822002"/>
            <a:ext cx="576262" cy="445973"/>
          </a:xfrm>
          <a:custGeom>
            <a:avLst/>
            <a:gdLst/>
            <a:ahLst/>
            <a:cxnLst/>
            <a:rect l="0" t="0" r="0" b="0"/>
            <a:pathLst>
              <a:path w="907" h="702">
                <a:moveTo>
                  <a:pt x="62" y="10"/>
                </a:moveTo>
                <a:lnTo>
                  <a:pt x="62" y="646"/>
                </a:lnTo>
                <a:lnTo>
                  <a:pt x="897" y="646"/>
                </a:lnTo>
                <a:moveTo>
                  <a:pt x="114" y="83"/>
                </a:moveTo>
                <a:lnTo>
                  <a:pt x="62" y="10"/>
                </a:lnTo>
                <a:lnTo>
                  <a:pt x="10" y="83"/>
                </a:lnTo>
                <a:moveTo>
                  <a:pt x="832" y="692"/>
                </a:moveTo>
                <a:lnTo>
                  <a:pt x="897" y="647"/>
                </a:lnTo>
                <a:lnTo>
                  <a:pt x="832" y="601"/>
                </a:lnTo>
                <a:moveTo>
                  <a:pt x="63" y="356"/>
                </a:moveTo>
                <a:lnTo>
                  <a:pt x="280" y="207"/>
                </a:lnTo>
                <a:lnTo>
                  <a:pt x="444" y="289"/>
                </a:lnTo>
                <a:lnTo>
                  <a:pt x="711" y="106"/>
                </a:lnTo>
                <a:moveTo>
                  <a:pt x="644" y="121"/>
                </a:moveTo>
                <a:lnTo>
                  <a:pt x="758" y="72"/>
                </a:lnTo>
                <a:lnTo>
                  <a:pt x="673" y="162"/>
                </a:lnTo>
                <a:lnTo>
                  <a:pt x="644" y="121"/>
                </a:lnTo>
                <a:close/>
                <a:moveTo>
                  <a:pt x="361" y="616"/>
                </a:moveTo>
                <a:lnTo>
                  <a:pt x="247" y="616"/>
                </a:lnTo>
                <a:lnTo>
                  <a:pt x="247" y="354"/>
                </a:lnTo>
                <a:lnTo>
                  <a:pt x="361" y="354"/>
                </a:lnTo>
                <a:lnTo>
                  <a:pt x="361" y="616"/>
                </a:lnTo>
                <a:close/>
                <a:moveTo>
                  <a:pt x="520" y="616"/>
                </a:moveTo>
                <a:lnTo>
                  <a:pt x="406" y="616"/>
                </a:lnTo>
                <a:lnTo>
                  <a:pt x="406" y="416"/>
                </a:lnTo>
                <a:lnTo>
                  <a:pt x="520" y="416"/>
                </a:lnTo>
                <a:lnTo>
                  <a:pt x="520" y="616"/>
                </a:lnTo>
                <a:close/>
                <a:moveTo>
                  <a:pt x="679" y="615"/>
                </a:moveTo>
                <a:lnTo>
                  <a:pt x="565" y="615"/>
                </a:lnTo>
                <a:lnTo>
                  <a:pt x="565" y="272"/>
                </a:lnTo>
                <a:lnTo>
                  <a:pt x="679" y="272"/>
                </a:lnTo>
                <a:lnTo>
                  <a:pt x="679" y="615"/>
                </a:lnTo>
                <a:close/>
                <a:moveTo>
                  <a:pt x="202" y="616"/>
                </a:moveTo>
                <a:lnTo>
                  <a:pt x="88" y="616"/>
                </a:lnTo>
                <a:lnTo>
                  <a:pt x="88" y="450"/>
                </a:lnTo>
                <a:lnTo>
                  <a:pt x="202" y="450"/>
                </a:lnTo>
                <a:lnTo>
                  <a:pt x="202" y="616"/>
                </a:lnTo>
                <a:close/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" name="path 56"/>
          <p:cNvSpPr/>
          <p:nvPr/>
        </p:nvSpPr>
        <p:spPr>
          <a:xfrm>
            <a:off x="2622002" y="822000"/>
            <a:ext cx="408001" cy="445971"/>
          </a:xfrm>
          <a:custGeom>
            <a:avLst/>
            <a:gdLst/>
            <a:ahLst/>
            <a:cxnLst/>
            <a:rect l="0" t="0" r="0" b="0"/>
            <a:pathLst>
              <a:path w="642" h="702">
                <a:moveTo>
                  <a:pt x="476" y="349"/>
                </a:moveTo>
                <a:cubicBezTo>
                  <a:pt x="530" y="402"/>
                  <a:pt x="530" y="487"/>
                  <a:pt x="476" y="539"/>
                </a:cubicBezTo>
                <a:cubicBezTo>
                  <a:pt x="423" y="592"/>
                  <a:pt x="336" y="592"/>
                  <a:pt x="283" y="539"/>
                </a:cubicBezTo>
                <a:cubicBezTo>
                  <a:pt x="229" y="487"/>
                  <a:pt x="229" y="402"/>
                  <a:pt x="283" y="349"/>
                </a:cubicBezTo>
                <a:cubicBezTo>
                  <a:pt x="336" y="297"/>
                  <a:pt x="423" y="297"/>
                  <a:pt x="476" y="349"/>
                </a:cubicBezTo>
                <a:moveTo>
                  <a:pt x="451" y="374"/>
                </a:moveTo>
                <a:cubicBezTo>
                  <a:pt x="490" y="413"/>
                  <a:pt x="490" y="476"/>
                  <a:pt x="451" y="514"/>
                </a:cubicBezTo>
                <a:cubicBezTo>
                  <a:pt x="412" y="553"/>
                  <a:pt x="348" y="553"/>
                  <a:pt x="308" y="514"/>
                </a:cubicBezTo>
                <a:cubicBezTo>
                  <a:pt x="269" y="476"/>
                  <a:pt x="269" y="413"/>
                  <a:pt x="308" y="374"/>
                </a:cubicBezTo>
                <a:cubicBezTo>
                  <a:pt x="348" y="336"/>
                  <a:pt x="412" y="336"/>
                  <a:pt x="451" y="374"/>
                </a:cubicBezTo>
                <a:moveTo>
                  <a:pt x="462" y="554"/>
                </a:moveTo>
                <a:lnTo>
                  <a:pt x="506" y="597"/>
                </a:lnTo>
                <a:lnTo>
                  <a:pt x="535" y="568"/>
                </a:lnTo>
                <a:lnTo>
                  <a:pt x="491" y="525"/>
                </a:lnTo>
                <a:moveTo>
                  <a:pt x="632" y="646"/>
                </a:moveTo>
                <a:lnTo>
                  <a:pt x="544" y="559"/>
                </a:lnTo>
                <a:lnTo>
                  <a:pt x="497" y="606"/>
                </a:lnTo>
                <a:lnTo>
                  <a:pt x="585" y="692"/>
                </a:lnTo>
                <a:lnTo>
                  <a:pt x="632" y="646"/>
                </a:lnTo>
                <a:close/>
                <a:moveTo>
                  <a:pt x="539" y="647"/>
                </a:moveTo>
                <a:lnTo>
                  <a:pt x="584" y="602"/>
                </a:lnTo>
                <a:moveTo>
                  <a:pt x="518" y="626"/>
                </a:moveTo>
                <a:lnTo>
                  <a:pt x="563" y="582"/>
                </a:lnTo>
                <a:moveTo>
                  <a:pt x="404" y="142"/>
                </a:moveTo>
                <a:lnTo>
                  <a:pt x="404" y="10"/>
                </a:lnTo>
                <a:lnTo>
                  <a:pt x="541" y="142"/>
                </a:lnTo>
                <a:lnTo>
                  <a:pt x="404" y="142"/>
                </a:lnTo>
                <a:close/>
                <a:moveTo>
                  <a:pt x="528" y="518"/>
                </a:moveTo>
                <a:cubicBezTo>
                  <a:pt x="535" y="518"/>
                  <a:pt x="541" y="512"/>
                  <a:pt x="541" y="505"/>
                </a:cubicBezTo>
                <a:lnTo>
                  <a:pt x="541" y="142"/>
                </a:lnTo>
                <a:lnTo>
                  <a:pt x="404" y="10"/>
                </a:lnTo>
                <a:lnTo>
                  <a:pt x="167" y="10"/>
                </a:lnTo>
                <a:cubicBezTo>
                  <a:pt x="160" y="10"/>
                  <a:pt x="154" y="15"/>
                  <a:pt x="154" y="22"/>
                </a:cubicBezTo>
                <a:lnTo>
                  <a:pt x="154" y="505"/>
                </a:lnTo>
                <a:cubicBezTo>
                  <a:pt x="154" y="512"/>
                  <a:pt x="160" y="518"/>
                  <a:pt x="167" y="518"/>
                </a:cubicBezTo>
                <a:lnTo>
                  <a:pt x="229" y="518"/>
                </a:lnTo>
                <a:moveTo>
                  <a:pt x="154" y="57"/>
                </a:moveTo>
                <a:lnTo>
                  <a:pt x="119" y="57"/>
                </a:lnTo>
                <a:cubicBezTo>
                  <a:pt x="112" y="57"/>
                  <a:pt x="106" y="63"/>
                  <a:pt x="106" y="69"/>
                </a:cubicBezTo>
                <a:lnTo>
                  <a:pt x="106" y="553"/>
                </a:lnTo>
                <a:cubicBezTo>
                  <a:pt x="106" y="560"/>
                  <a:pt x="112" y="565"/>
                  <a:pt x="119" y="565"/>
                </a:cubicBezTo>
                <a:lnTo>
                  <a:pt x="260" y="565"/>
                </a:lnTo>
                <a:moveTo>
                  <a:pt x="106" y="105"/>
                </a:moveTo>
                <a:lnTo>
                  <a:pt x="71" y="105"/>
                </a:lnTo>
                <a:cubicBezTo>
                  <a:pt x="64" y="105"/>
                  <a:pt x="58" y="110"/>
                  <a:pt x="58" y="117"/>
                </a:cubicBezTo>
                <a:lnTo>
                  <a:pt x="58" y="600"/>
                </a:lnTo>
                <a:cubicBezTo>
                  <a:pt x="58" y="607"/>
                  <a:pt x="64" y="613"/>
                  <a:pt x="71" y="613"/>
                </a:cubicBezTo>
                <a:lnTo>
                  <a:pt x="432" y="613"/>
                </a:lnTo>
                <a:cubicBezTo>
                  <a:pt x="439" y="613"/>
                  <a:pt x="444" y="607"/>
                  <a:pt x="444" y="600"/>
                </a:cubicBezTo>
                <a:lnTo>
                  <a:pt x="444" y="592"/>
                </a:lnTo>
                <a:moveTo>
                  <a:pt x="58" y="152"/>
                </a:moveTo>
                <a:lnTo>
                  <a:pt x="22" y="152"/>
                </a:lnTo>
                <a:cubicBezTo>
                  <a:pt x="15" y="152"/>
                  <a:pt x="10" y="158"/>
                  <a:pt x="10" y="165"/>
                </a:cubicBezTo>
                <a:lnTo>
                  <a:pt x="10" y="648"/>
                </a:lnTo>
                <a:cubicBezTo>
                  <a:pt x="10" y="655"/>
                  <a:pt x="15" y="660"/>
                  <a:pt x="22" y="660"/>
                </a:cubicBezTo>
                <a:lnTo>
                  <a:pt x="383" y="660"/>
                </a:lnTo>
                <a:cubicBezTo>
                  <a:pt x="390" y="660"/>
                  <a:pt x="396" y="655"/>
                  <a:pt x="396" y="648"/>
                </a:cubicBezTo>
                <a:lnTo>
                  <a:pt x="396" y="613"/>
                </a:lnTo>
                <a:moveTo>
                  <a:pt x="215" y="432"/>
                </a:moveTo>
                <a:lnTo>
                  <a:pt x="209" y="432"/>
                </a:lnTo>
                <a:moveTo>
                  <a:pt x="222" y="376"/>
                </a:moveTo>
                <a:lnTo>
                  <a:pt x="209" y="376"/>
                </a:lnTo>
                <a:moveTo>
                  <a:pt x="267" y="320"/>
                </a:moveTo>
                <a:lnTo>
                  <a:pt x="209" y="320"/>
                </a:lnTo>
                <a:moveTo>
                  <a:pt x="486" y="320"/>
                </a:moveTo>
                <a:lnTo>
                  <a:pt x="479" y="320"/>
                </a:lnTo>
                <a:moveTo>
                  <a:pt x="486" y="264"/>
                </a:moveTo>
                <a:lnTo>
                  <a:pt x="209" y="264"/>
                </a:lnTo>
                <a:moveTo>
                  <a:pt x="486" y="207"/>
                </a:moveTo>
                <a:lnTo>
                  <a:pt x="209" y="207"/>
                </a:lnTo>
                <a:moveTo>
                  <a:pt x="371" y="151"/>
                </a:moveTo>
                <a:lnTo>
                  <a:pt x="209" y="151"/>
                </a:lnTo>
                <a:moveTo>
                  <a:pt x="365" y="95"/>
                </a:moveTo>
                <a:lnTo>
                  <a:pt x="209" y="95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0769951" y="6669110"/>
            <a:ext cx="1141094" cy="137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HTTP://ZYJZSJ.</a:t>
            </a:r>
            <a:r>
              <a:rPr sz="10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kern="0" spc="9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  <a:hlinkClick r:id="rId3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CN</a:t>
            </a:r>
            <a:endParaRPr sz="10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0" name="path 60"/>
          <p:cNvSpPr/>
          <p:nvPr/>
        </p:nvSpPr>
        <p:spPr>
          <a:xfrm>
            <a:off x="686282" y="991044"/>
            <a:ext cx="367423" cy="276923"/>
          </a:xfrm>
          <a:custGeom>
            <a:avLst/>
            <a:gdLst/>
            <a:ahLst/>
            <a:cxnLst/>
            <a:rect l="0" t="0" r="0" b="0"/>
            <a:pathLst>
              <a:path w="578" h="436">
                <a:moveTo>
                  <a:pt x="568" y="426"/>
                </a:moveTo>
                <a:lnTo>
                  <a:pt x="10" y="426"/>
                </a:lnTo>
                <a:lnTo>
                  <a:pt x="10" y="348"/>
                </a:lnTo>
                <a:lnTo>
                  <a:pt x="568" y="348"/>
                </a:lnTo>
                <a:lnTo>
                  <a:pt x="568" y="426"/>
                </a:lnTo>
                <a:close/>
                <a:moveTo>
                  <a:pt x="166" y="310"/>
                </a:moveTo>
                <a:lnTo>
                  <a:pt x="84" y="310"/>
                </a:lnTo>
                <a:lnTo>
                  <a:pt x="84" y="10"/>
                </a:lnTo>
                <a:lnTo>
                  <a:pt x="166" y="10"/>
                </a:lnTo>
                <a:lnTo>
                  <a:pt x="166" y="310"/>
                </a:lnTo>
                <a:close/>
                <a:moveTo>
                  <a:pt x="330" y="310"/>
                </a:moveTo>
                <a:lnTo>
                  <a:pt x="248" y="310"/>
                </a:lnTo>
                <a:lnTo>
                  <a:pt x="248" y="10"/>
                </a:lnTo>
                <a:lnTo>
                  <a:pt x="330" y="10"/>
                </a:lnTo>
                <a:lnTo>
                  <a:pt x="330" y="310"/>
                </a:lnTo>
                <a:close/>
                <a:moveTo>
                  <a:pt x="493" y="310"/>
                </a:moveTo>
                <a:lnTo>
                  <a:pt x="411" y="310"/>
                </a:lnTo>
                <a:lnTo>
                  <a:pt x="411" y="10"/>
                </a:lnTo>
                <a:lnTo>
                  <a:pt x="493" y="10"/>
                </a:lnTo>
                <a:lnTo>
                  <a:pt x="493" y="310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path 62"/>
          <p:cNvSpPr/>
          <p:nvPr/>
        </p:nvSpPr>
        <p:spPr>
          <a:xfrm>
            <a:off x="666000" y="822007"/>
            <a:ext cx="408000" cy="155003"/>
          </a:xfrm>
          <a:custGeom>
            <a:avLst/>
            <a:gdLst/>
            <a:ahLst/>
            <a:cxnLst/>
            <a:rect l="0" t="0" r="0" b="0"/>
            <a:pathLst>
              <a:path w="642" h="244">
                <a:moveTo>
                  <a:pt x="10" y="234"/>
                </a:moveTo>
                <a:lnTo>
                  <a:pt x="632" y="234"/>
                </a:lnTo>
                <a:lnTo>
                  <a:pt x="632" y="184"/>
                </a:lnTo>
                <a:lnTo>
                  <a:pt x="321" y="10"/>
                </a:lnTo>
                <a:lnTo>
                  <a:pt x="10" y="184"/>
                </a:lnTo>
                <a:lnTo>
                  <a:pt x="10" y="234"/>
                </a:lnTo>
                <a:close/>
                <a:moveTo>
                  <a:pt x="52" y="199"/>
                </a:moveTo>
                <a:lnTo>
                  <a:pt x="321" y="49"/>
                </a:lnTo>
                <a:lnTo>
                  <a:pt x="590" y="199"/>
                </a:lnTo>
                <a:lnTo>
                  <a:pt x="52" y="199"/>
                </a:lnTo>
              </a:path>
            </a:pathLst>
          </a:custGeom>
          <a:noFill/>
          <a:ln w="12700" cap="rnd">
            <a:solidFill>
              <a:srgbClr val="16151B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b="1"/>
              <a:t>收益模式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rect 1782"/>
          <p:cNvSpPr/>
          <p:nvPr/>
        </p:nvSpPr>
        <p:spPr>
          <a:xfrm>
            <a:off x="3779990" y="12"/>
            <a:ext cx="7559992" cy="5634596"/>
          </a:xfrm>
          <a:prstGeom prst="rect">
            <a:avLst/>
          </a:prstGeom>
          <a:solidFill>
            <a:srgbClr val="766B5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  <a:p>
            <a:r>
              <a:rPr sz="3600" b="1"/>
              <a:t>感谢观看</a:t>
            </a:r>
          </a:p>
        </p:txBody>
      </p:sp>
      <p:sp>
        <p:nvSpPr>
          <p:cNvPr id="1784" name="textbox 1784"/>
          <p:cNvSpPr/>
          <p:nvPr/>
        </p:nvSpPr>
        <p:spPr>
          <a:xfrm>
            <a:off x="6378072" y="4180411"/>
            <a:ext cx="2456814" cy="579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8000"/>
              </a:lnSpc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LINGJIAOSHI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66,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GUOCHUANGYUAN</a:t>
            </a:r>
            <a:r>
              <a:rPr sz="1200" kern="0" spc="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8-B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73075" algn="l" rtl="0" eaLnBrk="0">
              <a:lnSpc>
                <a:spcPts val="1720"/>
              </a:lnSpc>
              <a:spcBef>
                <a:spcPts val="295"/>
              </a:spcBef>
            </a:pP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025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84540119</a:t>
            </a:r>
            <a:r>
              <a:rPr sz="1200" kern="0" spc="-1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-</a:t>
            </a:r>
            <a:r>
              <a:rPr sz="1200" kern="0" spc="-11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sz="1200" kern="0" spc="7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8019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 rtl="0" eaLnBrk="0">
              <a:lnSpc>
                <a:spcPct val="11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8185" algn="l" rtl="0" eaLnBrk="0">
              <a:lnSpc>
                <a:spcPct val="66000"/>
              </a:lnSpc>
              <a:spcBef>
                <a:spcPts val="0"/>
              </a:spcBef>
            </a:pP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www.ZYJZSJ.CN</a:t>
            </a:r>
            <a:endParaRPr sz="1200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786" name="picture 17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316685" y="3441605"/>
            <a:ext cx="486610" cy="48661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989445" y="2200910"/>
            <a:ext cx="1141095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sz="1800"/>
              <a:t>携手共进，共创辉煌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</Words>
  <Application>WPS 演示</Application>
  <PresentationFormat/>
  <Paragraphs>206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Times New Roman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Elena （LW）</cp:lastModifiedBy>
  <cp:revision>3</cp:revision>
  <dcterms:created xsi:type="dcterms:W3CDTF">2025-12-11T10:04:00Z</dcterms:created>
  <dcterms:modified xsi:type="dcterms:W3CDTF">2026-07-02T02:41:41Z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2025-12-12T10:03:43Z</vt:filetime>
  </property>
  <property fmtid="{D5CDD505-2E9C-101B-9397-08002B2CF9AE}" pid="4" name="ICV">
    <vt:lpwstr>B96C6275A3F743609F6A435C4E74A815_13</vt:lpwstr>
  </property>
  <property fmtid="{D5CDD505-2E9C-101B-9397-08002B2CF9AE}" pid="5" name="KSOProductBuildVer">
    <vt:lpwstr>2052-12.1.0.26895</vt:lpwstr>
  </property>
</Properties>
</file>