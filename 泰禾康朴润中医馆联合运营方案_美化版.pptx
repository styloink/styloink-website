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0"/>
            <a:ext cx="76200" cy="514350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78101" y="228600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712" y="1757511"/>
            <a:ext cx="1554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泰禾康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73712" y="2208312"/>
            <a:ext cx="1554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TAIHE KANG HEALTH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73712" y="2443163"/>
            <a:ext cx="15543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712" y="2801838"/>
            <a:ext cx="1554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朴润中医馆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3712" y="3252639"/>
            <a:ext cx="1554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PURUN TCM CLINIC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89202" y="1289000"/>
            <a:ext cx="4394299" cy="263426"/>
          </a:xfrm>
          <a:prstGeom prst="roundRect">
            <a:avLst>
              <a:gd name="adj" fmla="val 9642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66902" y="1339751"/>
            <a:ext cx="41196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健康管理中心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89202" y="1781026"/>
            <a:ext cx="448218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联合运营合作方案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89202" y="2413397"/>
            <a:ext cx="507950" cy="1265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89202" y="2679948"/>
            <a:ext cx="44821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300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共创健康新篇章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89202" y="3400574"/>
            <a:ext cx="87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/ 07 / 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89202" y="3654475"/>
            <a:ext cx="854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汇报人：武静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05875" y="4260949"/>
            <a:ext cx="0" cy="653951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1449" y="4905375"/>
            <a:ext cx="653951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0588"/>
            <a:ext cx="50750" cy="30480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406301"/>
            <a:ext cx="60327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120676"/>
            <a:ext cx="3860750" cy="16558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125438"/>
            <a:ext cx="38607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5588" y="1120676"/>
            <a:ext cx="0" cy="1655862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2771775"/>
            <a:ext cx="38607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412" y="1120676"/>
            <a:ext cx="0" cy="1655862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825" y="1748582"/>
            <a:ext cx="4320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87091" y="1743819"/>
            <a:ext cx="2357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7091" y="1915269"/>
            <a:ext cx="23572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关于我们：整合力量，专业致胜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3501" y="1120676"/>
            <a:ext cx="3860899" cy="16558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73501" y="1125438"/>
            <a:ext cx="38608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9638" y="1120676"/>
            <a:ext cx="0" cy="1655862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3501" y="2771775"/>
            <a:ext cx="38608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97313" y="1120676"/>
            <a:ext cx="0" cy="1655862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9726" y="1748582"/>
            <a:ext cx="4815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99509" y="1743819"/>
            <a:ext cx="2357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99509" y="1915269"/>
            <a:ext cx="23572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核心团队：精英荟萃，实力护航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600" y="2979688"/>
            <a:ext cx="3860750" cy="16558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984450"/>
            <a:ext cx="38607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5588" y="2979688"/>
            <a:ext cx="0" cy="1655862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4630787"/>
            <a:ext cx="38607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412" y="2979688"/>
            <a:ext cx="0" cy="1655862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825" y="3607594"/>
            <a:ext cx="4809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35013" y="3602831"/>
            <a:ext cx="2357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35013" y="3774281"/>
            <a:ext cx="23572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运营方案：精准施策，价值共创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73501" y="2979688"/>
            <a:ext cx="3860899" cy="16558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3501" y="2984450"/>
            <a:ext cx="38608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29638" y="2979688"/>
            <a:ext cx="0" cy="1655862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3501" y="4630787"/>
            <a:ext cx="38608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7313" y="2979688"/>
            <a:ext cx="0" cy="1655862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9726" y="3607594"/>
            <a:ext cx="4898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07695" y="3602831"/>
            <a:ext cx="2357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07695" y="3774281"/>
            <a:ext cx="23572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合作模式：携手共赢，展望未来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99" y="0"/>
            <a:ext cx="4063901" cy="5143500"/>
          </a:xfrm>
          <a:prstGeom prst="rect">
            <a:avLst/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93974"/>
            <a:ext cx="1224260" cy="279202"/>
          </a:xfrm>
          <a:prstGeom prst="roundRect">
            <a:avLst>
              <a:gd name="adj" fmla="val 909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5150" y="1857375"/>
            <a:ext cx="834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2327077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关于我们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2000" y="314935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整合力量，专业致胜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4229249"/>
            <a:ext cx="126995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728174" y="4210199"/>
            <a:ext cx="0" cy="52700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0699" y="4727674"/>
            <a:ext cx="527000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92162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651" y="381000"/>
            <a:ext cx="10363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我们的愿景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30152" y="428625"/>
            <a:ext cx="15670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携手共进，共创健康未来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962025"/>
            <a:ext cx="8128099" cy="492026"/>
          </a:xfrm>
          <a:prstGeom prst="roundRect">
            <a:avLst>
              <a:gd name="adj" fmla="val 7743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141363"/>
            <a:ext cx="550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28750" y="1088975"/>
            <a:ext cx="39337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携手共进，共创健康未来 —— 现代与传统的完美融合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707952"/>
            <a:ext cx="3949750" cy="302924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376" y="194771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1927" y="2031802"/>
            <a:ext cx="1685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04627" y="1946077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泰禾康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04627" y="2193727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现代健康管理先行者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1376" y="2558653"/>
            <a:ext cx="3422898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1376" y="2672804"/>
            <a:ext cx="349135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专注现代健康管理，以科学方法引领健康生活方式，打造个性化健康解决方案。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6300" y="1707952"/>
            <a:ext cx="3949750" cy="302924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9726" y="194771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0277" y="2031802"/>
            <a:ext cx="1685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2977" y="1946077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朴润中医馆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2977" y="2193727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传统中医智慧传承者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9726" y="2558653"/>
            <a:ext cx="3422898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49726" y="2672804"/>
            <a:ext cx="349135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传承千年中医智慧，融合传统诊疗精髓，提供自然调理与体质养护服务。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8676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泰禾康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96603" y="392013"/>
            <a:ext cx="15901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 您身边的健康管理专家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3352"/>
            <a:ext cx="2539901" cy="3924598"/>
          </a:xfrm>
          <a:prstGeom prst="roundRect">
            <a:avLst>
              <a:gd name="adj" fmla="val 2000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790998"/>
            <a:ext cx="21243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泰禾康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368748"/>
            <a:ext cx="2082701" cy="238125"/>
          </a:xfrm>
          <a:prstGeom prst="roundRect">
            <a:avLst>
              <a:gd name="adj" fmla="val 1066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406848"/>
            <a:ext cx="18653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核心品牌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784574"/>
            <a:ext cx="212435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专注于提供专业健康管理与养生保健服务的科技型企业，区域内颇具口碑的健康服务标杆。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571280"/>
            <a:ext cx="2082701" cy="238125"/>
          </a:xfrm>
          <a:prstGeom prst="roundRect">
            <a:avLst>
              <a:gd name="adj" fmla="val 10667"/>
            </a:avLst>
          </a:prstGeom>
          <a:solidFill>
            <a:srgbClr val="8B5E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3609380"/>
            <a:ext cx="18653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整合医疗健康养老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1002" y="863352"/>
            <a:ext cx="1727299" cy="3413671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51002" y="882402"/>
            <a:ext cx="1727299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73538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1002" y="4272260"/>
            <a:ext cx="17272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5764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2927" y="1028402"/>
            <a:ext cx="14315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健康咨询服务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2927" y="1291828"/>
            <a:ext cx="1431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个性化方案定制，专业团队一对一健康指导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05251" y="863352"/>
            <a:ext cx="1727299" cy="3413671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05251" y="882402"/>
            <a:ext cx="1727299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7788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5251" y="4272260"/>
            <a:ext cx="17272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10014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7176" y="1028402"/>
            <a:ext cx="14315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健康产品研发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7176" y="1291828"/>
            <a:ext cx="1431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医疗器械、健康消费品等优质健康产品供应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59501" y="863352"/>
            <a:ext cx="1727299" cy="3413671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959501" y="882402"/>
            <a:ext cx="1727299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2038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9501" y="4272260"/>
            <a:ext cx="17272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4263" y="863352"/>
            <a:ext cx="0" cy="3413671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1426" y="1028402"/>
            <a:ext cx="14315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社区化网络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21426" y="1291828"/>
            <a:ext cx="1431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打造"家门口的健康管家"，便捷可及的社区服务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51002" y="4403973"/>
            <a:ext cx="5435798" cy="383977"/>
          </a:xfrm>
          <a:prstGeom prst="roundRect">
            <a:avLst>
              <a:gd name="adj" fmla="val 9922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8702" y="4514999"/>
            <a:ext cx="647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全周期体系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90702" y="4505474"/>
            <a:ext cx="3991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 → 调理 → 养护，覆盖健康管理全流程，拒绝"一刀切"，量身定制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8676"/>
            <a:ext cx="906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朴润中医馆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752154" y="392013"/>
            <a:ext cx="24967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 传承经典，精于辨证的现代中医实践者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3352"/>
            <a:ext cx="2781300" cy="1898749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68114"/>
            <a:ext cx="278130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33737" y="863352"/>
            <a:ext cx="0" cy="1898749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57339"/>
            <a:ext cx="278130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012" y="863352"/>
            <a:ext cx="0" cy="1898749"/>
          </a:xfrm>
          <a:prstGeom prst="line">
            <a:avLst/>
          </a:prstGeom>
          <a:noFill/>
          <a:ln w="47625">
            <a:solidFill>
              <a:srgbClr val="8B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26" y="999827"/>
            <a:ext cx="24161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中医内科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2526" y="1250603"/>
            <a:ext cx="2416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脾胃病、心脑血管调理等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65450" y="863352"/>
            <a:ext cx="2781449" cy="1898749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65450" y="868114"/>
            <a:ext cx="278144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2137" y="863352"/>
            <a:ext cx="0" cy="1898749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5450" y="2757339"/>
            <a:ext cx="278144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9263" y="863352"/>
            <a:ext cx="0" cy="1898749"/>
          </a:xfrm>
          <a:prstGeom prst="line">
            <a:avLst/>
          </a:prstGeom>
          <a:noFill/>
          <a:ln w="47625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0776" y="999827"/>
            <a:ext cx="2416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中医妇科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90776" y="1250603"/>
            <a:ext cx="2416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月经不调、产后康复等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889052"/>
            <a:ext cx="2781300" cy="1898898"/>
          </a:xfrm>
          <a:prstGeom prst="roundRect">
            <a:avLst>
              <a:gd name="adj" fmla="val 2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2893814"/>
            <a:ext cx="278130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3737" y="2889052"/>
            <a:ext cx="0" cy="18988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783187"/>
            <a:ext cx="278130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012" y="2889052"/>
            <a:ext cx="0" cy="1898898"/>
          </a:xfrm>
          <a:prstGeom prst="line">
            <a:avLst/>
          </a:prstGeom>
          <a:noFill/>
          <a:ln w="47625">
            <a:solidFill>
              <a:srgbClr val="8B5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526" y="3025527"/>
            <a:ext cx="24161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中医骨伤科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2526" y="3276302"/>
            <a:ext cx="2416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颈肩腰腿痛专业治疗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5450" y="2889052"/>
            <a:ext cx="2781449" cy="1898898"/>
          </a:xfrm>
          <a:prstGeom prst="roundRect">
            <a:avLst>
              <a:gd name="adj" fmla="val 2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365450" y="2893814"/>
            <a:ext cx="278144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2137" y="2889052"/>
            <a:ext cx="0" cy="18988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5450" y="4783187"/>
            <a:ext cx="278144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9263" y="2889052"/>
            <a:ext cx="0" cy="1898898"/>
          </a:xfrm>
          <a:prstGeom prst="line">
            <a:avLst/>
          </a:prstGeom>
          <a:noFill/>
          <a:ln w="47625">
            <a:solidFill>
              <a:srgbClr val="8B5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0776" y="3025527"/>
            <a:ext cx="2416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亚健康调理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90776" y="3276302"/>
            <a:ext cx="2416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治未病服务，防未然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863352"/>
            <a:ext cx="2286000" cy="3924598"/>
          </a:xfrm>
          <a:prstGeom prst="roundRect">
            <a:avLst>
              <a:gd name="adj" fmla="val 2222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603950" y="2514749"/>
            <a:ext cx="1879699" cy="0"/>
          </a:xfrm>
          <a:prstGeom prst="line">
            <a:avLst/>
          </a:prstGeom>
          <a:noFill/>
          <a:ln w="9525">
            <a:solidFill>
              <a:srgbClr val="8B5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5153" y="1709886"/>
            <a:ext cx="191729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朴润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99250" y="2119461"/>
            <a:ext cx="888950" cy="238125"/>
          </a:xfrm>
          <a:prstGeom prst="roundRect">
            <a:avLst>
              <a:gd name="adj" fmla="val 1066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219850" y="2157561"/>
            <a:ext cx="647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上医治未病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03950" y="276076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81651" y="2722662"/>
            <a:ext cx="116570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辨证论治，一人一方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03950" y="310351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81651" y="3065413"/>
            <a:ext cx="90657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传统与现代结合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03950" y="34462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81651" y="3408164"/>
            <a:ext cx="77708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注重医患沟通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03950" y="378901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81651" y="3750915"/>
            <a:ext cx="129519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卫生部门批准专业机构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99" y="0"/>
            <a:ext cx="4063901" cy="5143500"/>
          </a:xfrm>
          <a:prstGeom prst="rect">
            <a:avLst/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93974"/>
            <a:ext cx="1224260" cy="279202"/>
          </a:xfrm>
          <a:prstGeom prst="roundRect">
            <a:avLst>
              <a:gd name="adj" fmla="val 909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5150" y="1857375"/>
            <a:ext cx="834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2327077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核心团队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2000" y="314935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精英荟萃，实力护航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4229249"/>
            <a:ext cx="126995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728174" y="4210199"/>
            <a:ext cx="0" cy="52700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0699" y="4727674"/>
            <a:ext cx="527000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核心成员介绍（一）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12602"/>
            <a:ext cx="4013150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3026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6426" y="1087189"/>
            <a:ext cx="1697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吕伟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6426" y="1360140"/>
            <a:ext cx="1697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核心负责人 · 康养项目操盘手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5325" y="1685479"/>
            <a:ext cx="761702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720304"/>
            <a:ext cx="550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核心负责人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33227" y="1685479"/>
            <a:ext cx="8696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44253" y="1720304"/>
            <a:ext cx="660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资本运作专家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5325" y="2009031"/>
            <a:ext cx="353690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325" y="2123182"/>
            <a:ext cx="353690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13年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健康养老产业深耕，完整经历超大规模康养项目全周期开发运营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主导完成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7.69亿元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混改引资；5年实现一期销售额近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20亿元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精通重资产投资与轻资产运营协同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812602"/>
            <a:ext cx="4013299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1626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9327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2727" y="1087189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鹿玮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2727" y="1360140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康养供应链运营总监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1626" y="1685479"/>
            <a:ext cx="1085404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2652" y="1720304"/>
            <a:ext cx="880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全球供应链搭建者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73229" y="1685479"/>
            <a:ext cx="1085404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4255" y="1720304"/>
            <a:ext cx="880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中医药出海领航者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1626" y="2009031"/>
            <a:ext cx="3537049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1626" y="2123182"/>
            <a:ext cx="3537049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13年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生产管理及贸易经验，精通全球供应链搭建与管理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主导引进顶尖技术，实现高端消毒产品国产化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成功将中医药产品出口至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日、德、英、美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等发达国家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核心成员介绍（二）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12602"/>
            <a:ext cx="4013150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8B5E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3026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6426" y="1087189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武静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6426" y="1360140"/>
            <a:ext cx="2072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疑难病咨询诊疗中心行政办公室主任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5325" y="1685479"/>
            <a:ext cx="1085404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720304"/>
            <a:ext cx="880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政企关系协调专家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56929" y="1685479"/>
            <a:ext cx="9775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67954" y="1720304"/>
            <a:ext cx="770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医疗运营负责人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5325" y="2009031"/>
            <a:ext cx="353690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325" y="2123182"/>
            <a:ext cx="353690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十余年跨行业综合管理经验，精通政府关系协调与政策研究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现任南京朴润医疗运营负责人，熟悉医疗项目全流程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具备从0到1建立政企合作渠道的经验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812602"/>
            <a:ext cx="4013299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1626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8B5E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9327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2727" y="1087189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刘振伟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2727" y="1360140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疑难病养老体系院长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1626" y="1685479"/>
            <a:ext cx="8696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2652" y="1720304"/>
            <a:ext cx="660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资深养老专家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7429" y="1685479"/>
            <a:ext cx="130135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68454" y="1720304"/>
            <a:ext cx="1100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国家级技能竞赛获奖者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1626" y="2009031"/>
            <a:ext cx="3537049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1626" y="2123182"/>
            <a:ext cx="3537049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十余年养老行业实战经验，覆盖一线照护到项目操盘全链条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全国首批高级养老护理员，荣获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"江苏省最美养老护理员"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统筹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15家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养护机构渠道运营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核心成员介绍（三）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12602"/>
            <a:ext cx="4013150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3026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6426" y="1087189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6426" y="1360140"/>
            <a:ext cx="15544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疑难病养老体系行政副院长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5325" y="1685479"/>
            <a:ext cx="8696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720304"/>
            <a:ext cx="660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运营实战专家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41128" y="1685479"/>
            <a:ext cx="8696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52154" y="1720304"/>
            <a:ext cx="660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安全管理能手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5325" y="2009031"/>
            <a:ext cx="353690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325" y="2123182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4921" y="214848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八年深耕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09576" y="2123182"/>
            <a:ext cx="25648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从一线护理员成长至副院长，熟悉机构运营全流程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5325" y="2392859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4921" y="241815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专业资质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09576" y="2392859"/>
            <a:ext cx="2675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持有消防设施操作员中级证书，擅长消防安全与后勤保障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5325" y="2811959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4921" y="283725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全面运营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9576" y="2811959"/>
            <a:ext cx="2215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负责消防安全、成本管控及护理员培训考核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3501" y="812602"/>
            <a:ext cx="4013299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1626" y="102527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9327" y="1156990"/>
            <a:ext cx="207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2727" y="1087189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2727" y="1360140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功能医学中心总经理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1626" y="1685479"/>
            <a:ext cx="119345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2652" y="1720304"/>
            <a:ext cx="990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大健康爆品打造专家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81279" y="1685479"/>
            <a:ext cx="869603" cy="222052"/>
          </a:xfrm>
          <a:prstGeom prst="roundRect">
            <a:avLst>
              <a:gd name="adj" fmla="val 11439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92304" y="1720304"/>
            <a:ext cx="660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营销培训导师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11626" y="2009031"/>
            <a:ext cx="3537049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11626" y="2123182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81222" y="214848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10亿级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5877" y="2123182"/>
            <a:ext cx="2098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成功将药食同源白牌饮品打造为明星单品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1626" y="2392859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81222" y="241815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超2万人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25877" y="2392859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拥有深厚销售人脉与行业资源，培训学员众多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1626" y="2662535"/>
            <a:ext cx="812750" cy="193477"/>
          </a:xfrm>
          <a:prstGeom prst="roundRect">
            <a:avLst>
              <a:gd name="adj" fmla="val 13128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81222" y="268783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0到1操盘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25877" y="266253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精通功能医学类产品爆品打造与私域渠道运作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核心成员介绍（四）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12602"/>
            <a:ext cx="4013150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6075" y="2127349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5C3D2E"/>
          </a:solidFill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8276" y="2297162"/>
            <a:ext cx="23317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6777" y="2206675"/>
            <a:ext cx="6217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朱冠静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6777" y="2540050"/>
            <a:ext cx="621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6075" y="2927300"/>
            <a:ext cx="343540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3066901"/>
            <a:ext cx="3504108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团队核心成员之一，在项目中承担关键职责，以专业能力和敬业精神推动业务发展。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3501" y="812602"/>
            <a:ext cx="4013299" cy="4000798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2376" y="2127349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5C3D2E"/>
          </a:solidFill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84577" y="2297162"/>
            <a:ext cx="23317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13078" y="2206675"/>
            <a:ext cx="6217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宋美华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13078" y="2540050"/>
            <a:ext cx="621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2376" y="2927300"/>
            <a:ext cx="3435548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2376" y="3066901"/>
            <a:ext cx="3504259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团队核心成员之一，凭借丰富经验与卓越执行力，为团队目标达成提供坚实支撑。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核心成员补充预留页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37902"/>
            <a:ext cx="8229600" cy="3975497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 w="19050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71950" y="2058888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0E8DE"/>
          </a:solidFill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64844" y="2287488"/>
            <a:ext cx="2185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72049" y="3011388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预留核心成员展示位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2650" y="3411438"/>
            <a:ext cx="569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9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后续补充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99" y="0"/>
            <a:ext cx="4063901" cy="5143500"/>
          </a:xfrm>
          <a:prstGeom prst="rect">
            <a:avLst/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93974"/>
            <a:ext cx="1224260" cy="279202"/>
          </a:xfrm>
          <a:prstGeom prst="roundRect">
            <a:avLst>
              <a:gd name="adj" fmla="val 909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5150" y="1857375"/>
            <a:ext cx="834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2327077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2000" y="314935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精准施策，价值共创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4229249"/>
            <a:ext cx="126995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728174" y="4210199"/>
            <a:ext cx="0" cy="52700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0699" y="4727674"/>
            <a:ext cx="527000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66713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651" y="355550"/>
            <a:ext cx="11658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总体运营策略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936575"/>
            <a:ext cx="2556867" cy="3851374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2534" y="12000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F8F4EE"/>
          </a:solidFill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59285" y="1338114"/>
            <a:ext cx="2591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24635" y="1974652"/>
            <a:ext cx="723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95884" y="2234952"/>
            <a:ext cx="38100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9531" y="2387203"/>
            <a:ext cx="6735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核心策略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5269" y="2752279"/>
            <a:ext cx="212223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中医为主，西医为辅，传统与现代深度融合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3418" y="936575"/>
            <a:ext cx="2557016" cy="3851374"/>
          </a:xfrm>
          <a:prstGeom prst="roundRect">
            <a:avLst>
              <a:gd name="adj" fmla="val 1987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48001" y="1200001"/>
            <a:ext cx="647700" cy="647700"/>
          </a:xfrm>
          <a:prstGeom prst="roundRect">
            <a:avLst>
              <a:gd name="adj" fmla="val 141176"/>
            </a:avLst>
          </a:prstGeom>
          <a:noFill/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44752" y="1338114"/>
            <a:ext cx="2591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71582" y="1974652"/>
            <a:ext cx="6005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1351" y="2234952"/>
            <a:ext cx="38100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35147" y="2387203"/>
            <a:ext cx="6735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服务核心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0735" y="2752279"/>
            <a:ext cx="2122381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围绕慢病管理和特色疑难专科，开展核心诊疗业务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9034" y="936575"/>
            <a:ext cx="2556867" cy="3851374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33617" y="12000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F8F4EE"/>
          </a:solidFill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30368" y="1338114"/>
            <a:ext cx="2591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69533" y="1974652"/>
            <a:ext cx="375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66967" y="2234952"/>
            <a:ext cx="38100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20614" y="2387203"/>
            <a:ext cx="6735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战略目标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6352" y="2752279"/>
            <a:ext cx="212223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打造差异化、高附加值的医疗服务，提升门诊核心竞争力与盈利能力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核心业务模块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9854" y="366564"/>
            <a:ext cx="1072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慢病管理中心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12602"/>
            <a:ext cx="1943100" cy="402609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999827"/>
            <a:ext cx="369391" cy="253901"/>
          </a:xfrm>
          <a:prstGeom prst="roundRect">
            <a:avLst>
              <a:gd name="adj" fmla="val 1500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0626" y="1050578"/>
            <a:ext cx="169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9125" y="1355229"/>
            <a:ext cx="1651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血压健康管理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1656755"/>
            <a:ext cx="161925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770906"/>
            <a:ext cx="161925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建立个人健康档案，定期监测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中西医结合调理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生活方式干预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52700" y="812602"/>
            <a:ext cx="1943100" cy="402609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14625" y="999827"/>
            <a:ext cx="388441" cy="253901"/>
          </a:xfrm>
          <a:prstGeom prst="roundRect">
            <a:avLst>
              <a:gd name="adj" fmla="val 1500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16126" y="1050578"/>
            <a:ext cx="18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14625" y="1355229"/>
            <a:ext cx="1651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代谢健康管理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14625" y="1656755"/>
            <a:ext cx="161925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14625" y="1770906"/>
            <a:ext cx="161925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涵盖血糖、血脂、尿酸综合管理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提供饮食、运动方案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药物调理方案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8200" y="812602"/>
            <a:ext cx="1943100" cy="402609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999827"/>
            <a:ext cx="388144" cy="253901"/>
          </a:xfrm>
          <a:prstGeom prst="roundRect">
            <a:avLst>
              <a:gd name="adj" fmla="val 1500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1626" y="1050578"/>
            <a:ext cx="188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0125" y="1355229"/>
            <a:ext cx="1651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围绝经期妇科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0125" y="1656755"/>
            <a:ext cx="161925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1770906"/>
            <a:ext cx="161925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针对女性更年期症状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中医辨证调理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专业健康指导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43700" y="812602"/>
            <a:ext cx="1943100" cy="402609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05625" y="999827"/>
            <a:ext cx="391716" cy="253901"/>
          </a:xfrm>
          <a:prstGeom prst="roundRect">
            <a:avLst>
              <a:gd name="adj" fmla="val 1500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07126" y="1050578"/>
            <a:ext cx="192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5625" y="1355229"/>
            <a:ext cx="1651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前列腺专科管理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5625" y="1656755"/>
            <a:ext cx="1619250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05625" y="1770906"/>
            <a:ext cx="161925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男性前列腺健康评估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中医理疗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个性化养护方案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核心业务模块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9854" y="366564"/>
            <a:ext cx="1072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特色专科中心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12602"/>
            <a:ext cx="2624733" cy="402609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36414"/>
            <a:ext cx="2624733" cy="0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7170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833938"/>
            <a:ext cx="2624733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963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426" y="1063377"/>
            <a:ext cx="22952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口腔专护管理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426" y="1403003"/>
            <a:ext cx="2250281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1517154"/>
            <a:ext cx="2250281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口腔健康评估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中医特色护齿方案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日常护理指导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59634" y="812602"/>
            <a:ext cx="2624733" cy="402609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59634" y="836414"/>
            <a:ext cx="2624733" cy="0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9604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9634" y="4833938"/>
            <a:ext cx="2624733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396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6859" y="1063377"/>
            <a:ext cx="22952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睡眠管理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46859" y="1403003"/>
            <a:ext cx="2250281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46859" y="1517154"/>
            <a:ext cx="4506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57885" y="1564779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3711" y="1517154"/>
            <a:ext cx="4506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84737" y="1564779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0563" y="1517154"/>
            <a:ext cx="4506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11588" y="1564779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46859" y="1850529"/>
            <a:ext cx="6792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57885" y="1898154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认知行为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46859" y="2209205"/>
            <a:ext cx="225028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中医特色疗法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现代疗法有机结合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62067" y="812602"/>
            <a:ext cx="2624733" cy="402609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62067" y="836414"/>
            <a:ext cx="2624733" cy="0"/>
          </a:xfrm>
          <a:prstGeom prst="line">
            <a:avLst/>
          </a:prstGeom>
          <a:noFill/>
          <a:ln w="47625">
            <a:solidFill>
              <a:srgbClr val="C494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2038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2067" y="4833938"/>
            <a:ext cx="2624733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66830" y="812602"/>
            <a:ext cx="0" cy="4026098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9293" y="1063377"/>
            <a:ext cx="22952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创面管理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49293" y="1403003"/>
            <a:ext cx="2250281" cy="12650"/>
          </a:xfrm>
          <a:prstGeom prst="rect">
            <a:avLst/>
          </a:prstGeom>
          <a:solidFill>
            <a:srgbClr val="E8DD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49293" y="1517154"/>
            <a:ext cx="5649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60319" y="1564779"/>
            <a:ext cx="3497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并发症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90445" y="1517154"/>
            <a:ext cx="5649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001470" y="1564779"/>
            <a:ext cx="3497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半失能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31596" y="1517154"/>
            <a:ext cx="450652" cy="257175"/>
          </a:xfrm>
          <a:prstGeom prst="roundRect">
            <a:avLst>
              <a:gd name="adj" fmla="val 9877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642622" y="1564779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失能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49293" y="1875830"/>
            <a:ext cx="225028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专业创面护理</a:t>
            </a:r>
            <a:endParaRPr lang="en-US" sz="9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康复服务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运营方案总结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9854" y="366564"/>
            <a:ext cx="8130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业务矩阵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12602"/>
            <a:ext cx="2667000" cy="1949500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974527"/>
            <a:ext cx="2338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中医特色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426" y="125075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128557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5429" y="125075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71154" y="128557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特色专科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51150" y="812602"/>
            <a:ext cx="2667149" cy="1949500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8376" y="974527"/>
            <a:ext cx="2338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西医辅助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8376" y="125075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24101" y="128557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慢病管理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79379" y="125075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65104" y="128557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特色专科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889052"/>
            <a:ext cx="2667000" cy="194964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426" y="3050977"/>
            <a:ext cx="2338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慢病管理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426" y="332720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0151" y="336202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中医特色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5429" y="332720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1154" y="336202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西医辅助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51150" y="2889052"/>
            <a:ext cx="2667149" cy="194964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38376" y="3050977"/>
            <a:ext cx="2338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特色专科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38376" y="332720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F0E8DE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24101" y="336202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慢病管理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79379" y="3327202"/>
            <a:ext cx="577602" cy="212527"/>
          </a:xfrm>
          <a:prstGeom prst="roundRect">
            <a:avLst>
              <a:gd name="adj" fmla="val 11951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65104" y="336202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西医辅助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46899" y="812602"/>
            <a:ext cx="2539901" cy="4026098"/>
          </a:xfrm>
          <a:prstGeom prst="roundRect">
            <a:avLst>
              <a:gd name="adj" fmla="val 2000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28714" y="1735187"/>
            <a:ext cx="2176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0050" y="2112913"/>
            <a:ext cx="2133600" cy="12650"/>
          </a:xfrm>
          <a:prstGeom prst="rect">
            <a:avLst/>
          </a:prstGeom>
          <a:solidFill>
            <a:srgbClr val="8B5E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28714" y="2303264"/>
            <a:ext cx="21762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结构清晰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8714" y="2560439"/>
            <a:ext cx="21762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模块化运营体系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8714" y="2900065"/>
            <a:ext cx="21762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优势互补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28714" y="3157240"/>
            <a:ext cx="21762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中西医深度协同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28714" y="3496866"/>
            <a:ext cx="21762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覆盖全面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28714" y="3754041"/>
            <a:ext cx="21762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慢病+专科双轮驱动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99" y="0"/>
            <a:ext cx="4063901" cy="5143500"/>
          </a:xfrm>
          <a:prstGeom prst="rect">
            <a:avLst/>
          </a:prstGeom>
          <a:solidFill>
            <a:srgbClr val="6B4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93974"/>
            <a:ext cx="1224260" cy="279202"/>
          </a:xfrm>
          <a:prstGeom prst="roundRect">
            <a:avLst>
              <a:gd name="adj" fmla="val 9097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5150" y="1857375"/>
            <a:ext cx="834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2327077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合作模式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2000" y="314935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携手共赢，展望未来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4229249"/>
            <a:ext cx="126995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728174" y="4210199"/>
            <a:ext cx="0" cy="52700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0699" y="4727674"/>
            <a:ext cx="527000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6713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7772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合作模式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25352" y="403175"/>
            <a:ext cx="1460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全面赋能，价值共创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85676"/>
            <a:ext cx="1943100" cy="395302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0150" y="10983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667" y="1226939"/>
            <a:ext cx="2160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2406" y="1682502"/>
            <a:ext cx="9326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整体托管运营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76350" y="2028527"/>
            <a:ext cx="304800" cy="1265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739" y="2168128"/>
            <a:ext cx="1600021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我们负责全面的日常运营与管理，提供专业保障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52700" y="885676"/>
            <a:ext cx="1943100" cy="3953024"/>
          </a:xfrm>
          <a:prstGeom prst="roundRect">
            <a:avLst>
              <a:gd name="adj" fmla="val 2614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6600" y="1098352"/>
            <a:ext cx="495300" cy="495300"/>
          </a:xfrm>
          <a:prstGeom prst="roundRect">
            <a:avLst>
              <a:gd name="adj" fmla="val 184615"/>
            </a:avLst>
          </a:prstGeom>
          <a:noFill/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3869" y="1245989"/>
            <a:ext cx="240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57906" y="1720602"/>
            <a:ext cx="9326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保留优势项目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1850" y="2066627"/>
            <a:ext cx="304800" cy="1265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4239" y="2206228"/>
            <a:ext cx="1600021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尊重并保留平康纪现有的优势项目与特色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8200" y="885676"/>
            <a:ext cx="1943100" cy="395302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4B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91150" y="10983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99521" y="1226939"/>
            <a:ext cx="240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3406" y="1682502"/>
            <a:ext cx="9326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新增专科项目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7350" y="2028527"/>
            <a:ext cx="304800" cy="1265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739" y="2168128"/>
            <a:ext cx="1600021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引入我们擅长的慢病管理与特色专科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43700" y="885676"/>
            <a:ext cx="1943100" cy="3953024"/>
          </a:xfrm>
          <a:prstGeom prst="roundRect">
            <a:avLst>
              <a:gd name="adj" fmla="val 2614"/>
            </a:avLst>
          </a:prstGeom>
          <a:solidFill>
            <a:srgbClr val="5C3D2E"/>
          </a:solidFill>
          <a:ln w="9525">
            <a:solidFill>
              <a:srgbClr val="5C3D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7600" y="1098352"/>
            <a:ext cx="495300" cy="495300"/>
          </a:xfrm>
          <a:prstGeom prst="roundRect">
            <a:avLst>
              <a:gd name="adj" fmla="val 184615"/>
            </a:avLst>
          </a:prstGeom>
          <a:noFill/>
          <a:ln w="19050">
            <a:solidFill>
              <a:srgbClr val="C494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92745" y="1245989"/>
            <a:ext cx="244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1182" y="1720602"/>
            <a:ext cx="10881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共同引进新项目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62850" y="2066627"/>
            <a:ext cx="304800" cy="12650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15239" y="2206228"/>
            <a:ext cx="1600021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根据市场需求，双方共同决策，引进新的高价值项目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50750" cy="2539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3226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合作方案与收益模式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12602"/>
            <a:ext cx="4013150" cy="977652"/>
          </a:xfrm>
          <a:prstGeom prst="roundRect">
            <a:avLst>
              <a:gd name="adj" fmla="val 519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02200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151" y="1177528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2202" y="990302"/>
            <a:ext cx="2681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FEE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22202" y="1161752"/>
            <a:ext cx="26814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固定年度运营费用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22202" y="1450628"/>
            <a:ext cx="26814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委托方支付固定年度费用，保障团队薪酬与日常管理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73501" y="812602"/>
            <a:ext cx="4013299" cy="977652"/>
          </a:xfrm>
          <a:prstGeom prst="roundRect">
            <a:avLst>
              <a:gd name="adj" fmla="val 5196"/>
            </a:avLst>
          </a:prstGeom>
          <a:solidFill>
            <a:srgbClr val="5C3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2101" y="102200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2452" y="1177528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38502" y="990302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8502" y="1161752"/>
            <a:ext cx="24483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收益分成机制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38502" y="1450628"/>
            <a:ext cx="2448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总体收入按比例分成，超额业绩设更高激励比例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967954"/>
            <a:ext cx="2641550" cy="2870746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987004"/>
            <a:ext cx="2641550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3988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833938"/>
            <a:ext cx="26415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963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426" y="2158454"/>
            <a:ext cx="23124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年度运营费用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426" y="2434679"/>
            <a:ext cx="2312441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委托方（平康纪）支付固定的年度运营管理费用，用于保障团队薪酬、日常管理等基础运营支出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1150" y="1967954"/>
            <a:ext cx="2641550" cy="2870746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51150" y="1987004"/>
            <a:ext cx="2641550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87938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1150" y="4833938"/>
            <a:ext cx="2641550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5913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376" y="2158454"/>
            <a:ext cx="23124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总体收入分成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38376" y="2434679"/>
            <a:ext cx="2312441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诊所总体收入扣除成本后，由双方按照约定比例进行分成，确保收益分配公平透明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45101" y="1967954"/>
            <a:ext cx="2641699" cy="2870746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45101" y="1987004"/>
            <a:ext cx="2641699" cy="0"/>
          </a:xfrm>
          <a:prstGeom prst="line">
            <a:avLst/>
          </a:prstGeom>
          <a:noFill/>
          <a:ln w="38100">
            <a:solidFill>
              <a:srgbClr val="C494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2038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45101" y="4833938"/>
            <a:ext cx="2641699" cy="0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49863" y="1967954"/>
            <a:ext cx="0" cy="2870746"/>
          </a:xfrm>
          <a:prstGeom prst="line">
            <a:avLst/>
          </a:prstGeom>
          <a:noFill/>
          <a:ln w="9525">
            <a:solidFill>
              <a:srgbClr val="D4B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2327" y="2158454"/>
            <a:ext cx="23125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激励机制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32327" y="2434679"/>
            <a:ext cx="2312593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6B5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设立年度业绩目标，超额部分设置更高比例分成，激励双方共同创造更高价值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27599"/>
            <a:ext cx="9144000" cy="1015901"/>
          </a:xfrm>
          <a:prstGeom prst="rect">
            <a:avLst/>
          </a:prstGeom>
          <a:solidFill>
            <a:srgbClr val="4A30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314325"/>
            <a:ext cx="653951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4325" y="304800"/>
            <a:ext cx="0" cy="653951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9675" y="4184749"/>
            <a:ext cx="0" cy="653951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5249" y="4829175"/>
            <a:ext cx="653951" cy="0"/>
          </a:xfrm>
          <a:prstGeom prst="line">
            <a:avLst/>
          </a:prstGeom>
          <a:noFill/>
          <a:ln w="19050">
            <a:solidFill>
              <a:srgbClr val="C49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7713" y="1397347"/>
            <a:ext cx="987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91000" y="1727448"/>
            <a:ext cx="76200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8900" y="1930450"/>
            <a:ext cx="396392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携手共进，共创辉煌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14750" y="2651075"/>
            <a:ext cx="1748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感谢您的聆听与信任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91000" y="3066901"/>
            <a:ext cx="762000" cy="25301"/>
          </a:xfrm>
          <a:prstGeom prst="rect">
            <a:avLst/>
          </a:prstGeom>
          <a:solidFill>
            <a:srgbClr val="C494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7906" y="3346103"/>
            <a:ext cx="7491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泰禾康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7906" y="3631853"/>
            <a:ext cx="7491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TAIHE KANG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72868" y="3403253"/>
            <a:ext cx="1841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7025" y="3346103"/>
            <a:ext cx="9712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朴润中医馆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7025" y="3631853"/>
            <a:ext cx="971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49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PURUN TCM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泰禾康&amp;朴润中医馆健康管理中心联合运营方案</dc:title>
  <dc:subject>PptxGenJS Presentation</dc:subject>
  <dc:creator>武静</dc:creator>
  <cp:lastModifiedBy>武静</cp:lastModifiedBy>
  <cp:revision>1</cp:revision>
  <dcterms:created xsi:type="dcterms:W3CDTF">2026-07-02T04:54:27Z</dcterms:created>
  <dcterms:modified xsi:type="dcterms:W3CDTF">2026-07-02T04:54:27Z</dcterms:modified>
</cp:coreProperties>
</file>